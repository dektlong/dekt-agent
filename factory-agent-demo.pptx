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anzuPlatformBox"/>
          <p:cNvSpPr>
            <a:spLocks noGrp="1"/>
          </p:cNvSpPr>
          <p:nvPr/>
        </p:nvSpPr>
        <p:spPr>
          <a:xfrm>
            <a:off x="1554480" y="905256"/>
            <a:ext cx="7095744" cy="3666744"/>
          </a:xfrm>
          <a:prstGeom prst="roundRect">
            <a:avLst>
              <a:gd name="adj" fmla="val 2000"/>
            </a:avLst>
          </a:prstGeom>
          <a:solidFill>
            <a:srgbClr val="EDF5FC"/>
          </a:solidFill>
          <a:ln w="12700">
            <a:solidFill>
              <a:srgbClr val="6AAAC8"/>
            </a:solidFill>
            <a:prstDash val="solid"/>
          </a:ln>
        </p:spPr>
        <p:txBody>
          <a:bodyPr anchor="t" tIns="27432" lIns="91440" rIns="91440" bIns="27432">
            <a:normAutofit/>
          </a:bodyPr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Agent Demo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37944" y="1243584"/>
            <a:ext cx="2377440" cy="1325880"/>
          </a:xfrm>
          <a:prstGeom prst="roundRect">
            <a:avLst>
              <a:gd name="adj" fmla="val 7059"/>
            </a:avLst>
          </a:prstGeom>
          <a:solidFill>
            <a:srgbClr val="CCE8D8"/>
          </a:solidFill>
          <a:ln w="15240">
            <a:solidFill>
              <a:srgbClr val="5AAA8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764792" y="1170432"/>
            <a:ext cx="2377440" cy="1325880"/>
          </a:xfrm>
          <a:prstGeom prst="roundRect">
            <a:avLst>
              <a:gd name="adj" fmla="val 7059"/>
            </a:avLst>
          </a:prstGeom>
          <a:solidFill>
            <a:srgbClr val="B8E0C8"/>
          </a:solidFill>
          <a:ln w="19050">
            <a:solidFill>
              <a:srgbClr val="7ABCA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691640" y="1097280"/>
            <a:ext cx="2377440" cy="1325880"/>
          </a:xfrm>
          <a:prstGeom prst="roundRect">
            <a:avLst>
              <a:gd name="adj" fmla="val 7059"/>
            </a:avLst>
          </a:prstGeom>
          <a:solidFill>
            <a:srgbClr val="E5EFF9"/>
          </a:solidFill>
          <a:ln w="25400">
            <a:solidFill>
              <a:srgbClr val="007A4D"/>
            </a:solidFill>
            <a:prstDash val="solid"/>
          </a:ln>
          <a:effectLst>
            <a:outerShdw sx="100000" sy="100000" kx="0" ky="0" algn="bl" rotWithShape="0" blurRad="152400" dist="50800" dir="2700000">
              <a:srgbClr val="0077B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691640" y="10972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Harness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157276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C5E8D5"/>
          </a:solidFill>
          <a:ln w="10160">
            <a:solidFill>
              <a:srgbClr val="007A4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15727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factory-agent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971800" y="157276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C5E8D5"/>
          </a:solidFill>
          <a:ln w="10160">
            <a:solidFill>
              <a:srgbClr val="007A4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971800" y="15727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compliance-agent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783080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Buildpack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system prompt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(.agents/skills/)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37160" y="109728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 w="19050">
            <a:solidFill>
              <a:srgbClr val="0077B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7160" y="10972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" y="1463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234440" y="1572768"/>
            <a:ext cx="320040" cy="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617720" y="1234440"/>
            <a:ext cx="1417320" cy="1097280"/>
          </a:xfrm>
          <a:prstGeom prst="roundRect">
            <a:avLst>
              <a:gd name="adj" fmla="val 5882"/>
            </a:avLst>
          </a:prstGeom>
          <a:solidFill>
            <a:srgbClr val="EAF1FA"/>
          </a:solidFill>
          <a:ln w="19050">
            <a:solidFill>
              <a:srgbClr val="007A4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617720" y="123444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Service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158191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0" i="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access to local or frontier models</a:t>
            </a:r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1984248"/>
            <a:ext cx="12344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b="0" i="1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of pre-authorized,</a:t>
            </a:r>
            <a:br>
              <a:rPr lang="en-US" sz="700" b="0" i="1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700" b="0" i="1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services</a:t>
            </a:r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069080" y="1737360"/>
            <a:ext cx="548640" cy="0"/>
          </a:xfrm>
          <a:prstGeom prst="line">
            <a:avLst/>
          </a:prstGeom>
          <a:noFill/>
          <a:ln w="25400">
            <a:solidFill>
              <a:srgbClr val="007A4D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629400" y="1280160"/>
            <a:ext cx="1463040" cy="1554480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 w="15240">
            <a:solidFill>
              <a:srgbClr val="007A4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29400" y="1280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02552" y="1627632"/>
            <a:ext cx="1316736" cy="0"/>
          </a:xfrm>
          <a:prstGeom prst="line">
            <a:avLst/>
          </a:prstGeom>
          <a:noFill/>
          <a:ln w="9525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702552" y="1682496"/>
            <a:ext cx="1316736" cy="502920"/>
          </a:xfrm>
          <a:prstGeom prst="roundRect">
            <a:avLst>
              <a:gd name="adj" fmla="val 9091"/>
            </a:avLst>
          </a:prstGeom>
          <a:solidFill>
            <a:srgbClr val="D0E5F8"/>
          </a:solidFill>
          <a:ln w="10160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720840" y="168249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car-orders-matching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6702552" y="2249424"/>
            <a:ext cx="1316736" cy="502920"/>
          </a:xfrm>
          <a:prstGeom prst="roundRect">
            <a:avLst>
              <a:gd name="adj" fmla="val 9091"/>
            </a:avLst>
          </a:prstGeom>
          <a:solidFill>
            <a:srgbClr val="D0E5F8"/>
          </a:solidFill>
          <a:ln w="10160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720840" y="224942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supplychain-motivator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880360" y="1051560"/>
            <a:ext cx="0" cy="45720"/>
          </a:xfrm>
          <a:prstGeom prst="line">
            <a:avLst/>
          </a:prstGeom>
          <a:noFill/>
          <a:ln w="15240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2880360" y="1051560"/>
            <a:ext cx="4480560" cy="0"/>
          </a:xfrm>
          <a:prstGeom prst="line">
            <a:avLst/>
          </a:prstGeom>
          <a:noFill/>
          <a:ln w="15240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360920" y="1051560"/>
            <a:ext cx="0" cy="228600"/>
          </a:xfrm>
          <a:prstGeom prst="line">
            <a:avLst/>
          </a:prstGeom>
          <a:noFill/>
          <a:ln w="15240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880360" y="2423160"/>
            <a:ext cx="0" cy="374904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691640" y="2798064"/>
            <a:ext cx="2377440" cy="347472"/>
          </a:xfrm>
          <a:prstGeom prst="roundRect">
            <a:avLst>
              <a:gd name="adj" fmla="val 12903"/>
            </a:avLst>
          </a:prstGeom>
          <a:solidFill>
            <a:srgbClr val="D5E8F8"/>
          </a:solidFill>
          <a:ln w="25400">
            <a:solidFill>
              <a:srgbClr val="0077B6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691640" y="27980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80360" y="3145536"/>
            <a:ext cx="0" cy="192024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414016" y="3337560"/>
            <a:ext cx="5376672" cy="0"/>
          </a:xfrm>
          <a:prstGeom prst="line">
            <a:avLst/>
          </a:prstGeom>
          <a:noFill/>
          <a:ln w="19050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414016" y="3337560"/>
            <a:ext cx="0" cy="137160"/>
          </a:xfrm>
          <a:prstGeom prst="line">
            <a:avLst/>
          </a:prstGeom>
          <a:noFill/>
          <a:ln w="19050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682496" y="347472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EAF1FA"/>
          </a:solidFill>
          <a:ln w="15240">
            <a:solidFill>
              <a:srgbClr val="C07010"/>
            </a:solidFill>
            <a:prstDash val="solid"/>
          </a:ln>
          <a:effectLst>
            <a:outerShdw sx="100000" sy="100000" kx="0" ky="0" algn="bl" rotWithShape="0" blurRad="76200" dist="25400" dir="2700000">
              <a:srgbClr val="1C2B4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737360" y="347472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factory-mcp-server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737360" y="3794760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&amp; Supply Chain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737360" y="4105656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07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OIDC Auth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4206240" y="3337560"/>
            <a:ext cx="0" cy="137160"/>
          </a:xfrm>
          <a:prstGeom prst="line">
            <a:avLst/>
          </a:prstGeom>
          <a:noFill/>
          <a:ln w="19050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3474720" y="347472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EAF1FA"/>
          </a:solidFill>
          <a:ln w="15240">
            <a:solidFill>
              <a:srgbClr val="C07010"/>
            </a:solidFill>
            <a:prstDash val="solid"/>
          </a:ln>
          <a:effectLst>
            <a:outerShdw sx="100000" sy="100000" kx="0" ky="0" algn="bl" rotWithShape="0" blurRad="76200" dist="25400" dir="2700000">
              <a:srgbClr val="1C2B4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529584" y="347472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car-orders-mcp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529584" y="3794760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Order Management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529584" y="4105656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07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OIDC Auth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5998464" y="3337560"/>
            <a:ext cx="0" cy="137160"/>
          </a:xfrm>
          <a:prstGeom prst="line">
            <a:avLst/>
          </a:prstGeom>
          <a:noFill/>
          <a:ln w="19050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5266944" y="3474720"/>
            <a:ext cx="1463040" cy="1042415"/>
          </a:xfrm>
          <a:prstGeom prst="roundRect">
            <a:avLst>
              <a:gd name="adj" fmla="val 7273"/>
            </a:avLst>
          </a:prstGeom>
          <a:solidFill>
            <a:srgbClr val="EAF1FA"/>
          </a:solidFill>
          <a:ln w="15240">
            <a:solidFill>
              <a:srgbClr val="6AAAC8"/>
            </a:solidFill>
            <a:prstDash val="solid"/>
          </a:ln>
          <a:effectLst>
            <a:outerShdw sx="100000" sy="100000" kx="0" ky="0" algn="bl" rotWithShape="0" blurRad="76200" dist="25400" dir="2700000">
              <a:srgbClr val="1C2B4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5321808" y="347472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doc-analyzer-mcp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321808" y="3794760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Document Analysis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7790688" y="3337560"/>
            <a:ext cx="0" cy="137160"/>
          </a:xfrm>
          <a:prstGeom prst="line">
            <a:avLst/>
          </a:prstGeom>
          <a:noFill/>
          <a:ln w="19050">
            <a:solidFill>
              <a:srgbClr val="6AAAC8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7059168" y="3474720"/>
            <a:ext cx="1463040" cy="1042415"/>
          </a:xfrm>
          <a:prstGeom prst="roundRect">
            <a:avLst>
              <a:gd name="adj" fmla="val 7273"/>
            </a:avLst>
          </a:prstGeom>
          <a:solidFill>
            <a:srgbClr val="EAF1FA"/>
          </a:solidFill>
          <a:ln w="15240">
            <a:solidFill>
              <a:srgbClr val="6AAAC8"/>
            </a:solidFill>
            <a:prstDash val="solid"/>
          </a:ln>
          <a:effectLst>
            <a:outerShdw sx="100000" sy="100000" kx="0" ky="0" algn="bl" rotWithShape="0" blurRad="76200" dist="25400" dir="2700000">
              <a:srgbClr val="1C2B4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114032" y="347472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chat-poster-mcp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114032" y="3794760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Chat Notifications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0" y="4946904"/>
            <a:ext cx="9144000" cy="182880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0" y="494690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runtime (buildpack)  •  agentic workflows  •  single push path-to-prod  •  AI gateway &amp; marketplace  •  secure MCP &amp; skills access  •  observability &amp; metrics</a:t>
            </a:r>
            <a:endParaRPr lang="en-US" sz="750" dirty="0"/>
          </a:p>
        </p:txBody>
      </p:sp>
      <p:sp>
        <p:nvSpPr>
          <p:cNvPr id="58" name="SubBox_vector-db"/>
          <p:cNvSpPr>
            <a:spLocks noGrp="1"/>
          </p:cNvSpPr>
          <p:nvPr/>
        </p:nvSpPr>
        <p:spPr>
          <a:xfrm>
            <a:off x="5321808" y="4151376"/>
            <a:ext cx="1353312" cy="132588"/>
          </a:xfrm>
          <a:prstGeom prst="roundRect">
            <a:avLst>
              <a:gd name="adj" fmla="val 9091"/>
            </a:avLst>
          </a:prstGeom>
          <a:solidFill>
            <a:srgbClr val="D0E5F8"/>
          </a:solidFill>
          <a:ln w="10160">
            <a:solidFill>
              <a:srgbClr val="6AAAC8"/>
            </a:solidFill>
            <a:prstDash val="solid"/>
          </a:ln>
        </p:spPr>
        <p:txBody>
          <a:bodyPr anchor="ctr">
            <a:normAutofit/>
          </a:bodyPr>
          <a:lstStyle/>
          <a:p>
            <a:pPr algn="ctr"/>
            <a:r>
              <a:rPr lang="en-US" sz="700" b="1" dirty="0">
                <a:solidFill>
                  <a:srgbClr val="3D5E80"/>
                </a:solidFill>
              </a:rPr>
              <a:t>vector-db</a:t>
            </a:r>
          </a:p>
        </p:txBody>
      </p:sp>
      <p:sp>
        <p:nvSpPr>
          <p:cNvPr id="59" name="SubBox_embeddingmodel"/>
          <p:cNvSpPr>
            <a:spLocks noGrp="1"/>
          </p:cNvSpPr>
          <p:nvPr/>
        </p:nvSpPr>
        <p:spPr>
          <a:xfrm>
            <a:off x="5321808" y="4279392"/>
            <a:ext cx="1353312" cy="128016"/>
          </a:xfrm>
          <a:prstGeom prst="roundRect">
            <a:avLst>
              <a:gd name="adj" fmla="val 9091"/>
            </a:avLst>
          </a:prstGeom>
          <a:solidFill>
            <a:srgbClr val="D0E5F8"/>
          </a:solidFill>
          <a:ln w="10160">
            <a:solidFill>
              <a:srgbClr val="6AAAC8"/>
            </a:solidFill>
            <a:prstDash val="solid"/>
          </a:ln>
        </p:spPr>
        <p:txBody>
          <a:bodyPr anchor="ctr">
            <a:normAutofit/>
          </a:bodyPr>
          <a:lstStyle/>
          <a:p>
            <a:pPr algn="ctr"/>
            <a:r>
              <a:rPr lang="en-US" sz="700" b="1" dirty="0">
                <a:solidFill>
                  <a:srgbClr val="3D5E80"/>
                </a:solidFill>
              </a:rPr>
              <a:t>embedding model</a:t>
            </a:r>
          </a:p>
        </p:txBody>
      </p:sp>
      <p:sp>
        <p:nvSpPr>
          <p:cNvPr id="60" name="SubBox_CredStoreservice"/>
          <p:cNvSpPr>
            <a:spLocks noGrp="1"/>
          </p:cNvSpPr>
          <p:nvPr/>
        </p:nvSpPr>
        <p:spPr>
          <a:xfrm>
            <a:off x="7118928" y="4151376"/>
            <a:ext cx="1353312" cy="132588"/>
          </a:xfrm>
          <a:prstGeom prst="roundRect">
            <a:avLst>
              <a:gd name="adj" fmla="val 9091"/>
            </a:avLst>
          </a:prstGeom>
          <a:solidFill>
            <a:srgbClr val="D0E5F8"/>
          </a:solidFill>
          <a:ln w="10160">
            <a:solidFill>
              <a:srgbClr val="6AAAC8"/>
            </a:solidFill>
            <a:prstDash val="solid"/>
          </a:ln>
        </p:spPr>
        <p:txBody>
          <a:bodyPr anchor="ctr">
            <a:normAutofit/>
          </a:bodyPr>
          <a:lstStyle/>
          <a:p>
            <a:pPr algn="ctr"/>
            <a:r>
              <a:rPr lang="en-US" sz="700" b="1" dirty="0">
                <a:solidFill>
                  <a:srgbClr val="3D5E80"/>
                </a:solidFill>
              </a:rPr>
              <a:t>CredStore service</a:t>
            </a:r>
          </a:p>
        </p:txBody>
      </p:sp>
      <p:sp>
        <p:nvSpPr>
          <p:cNvPr id="62" name="PrivateCloudBar"/>
          <p:cNvSpPr>
            <a:spLocks noGrp="1"/>
          </p:cNvSpPr>
          <p:nvPr/>
        </p:nvSpPr>
        <p:spPr>
          <a:xfrm>
            <a:off x="3730752" y="4645152"/>
            <a:ext cx="2743200" cy="228600"/>
          </a:xfrm>
          <a:prstGeom prst="cloud">
            <a:avLst/>
          </a:prstGeom>
          <a:solidFill>
            <a:srgbClr val="6B7280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700" b="1" dirty="0">
                <a:solidFill>
                  <a:srgbClr val="FFFFFF"/>
                </a:solidFill>
              </a:rPr>
              <a:t>Private Cloud (VCF)</a:t>
            </a:r>
          </a:p>
        </p:txBody>
      </p:sp>
      <p:sp>
        <p:nvSpPr>
          <p:cNvPr id="63" name="TanzuPlatformLabel"/>
          <p:cNvSpPr>
            <a:spLocks noGrp="1"/>
          </p:cNvSpPr>
          <p:nvPr/>
        </p:nvSpPr>
        <p:spPr>
          <a:xfrm>
            <a:off x="5084064" y="941832"/>
            <a:ext cx="3474720" cy="146304"/>
          </a:xfrm>
          <a:prstGeom prst="rect">
            <a:avLst/>
          </a:prstGeom>
          <a:noFill/>
          <a:ln>
            <a:noFill/>
          </a:ln>
        </p:spPr>
        <p:txBody>
          <a:bodyPr anchor="ctr" tIns="0" bIns="0">
            <a:normAutofit/>
          </a:bodyPr>
          <a:lstStyle/>
          <a:p>
            <a:pPr algn="r"/>
            <a:r>
              <a:rPr lang="en-US" sz="850" b="1" dirty="0">
                <a:solidFill>
                  <a:srgbClr val="0077B6"/>
                </a:solidFill>
              </a:rPr>
              <a:t>Tanzu Agentic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2026-06-15T18:51:50Z</dcterms:created>
  <dcterms:modified xsi:type="dcterms:W3CDTF">2026-06-15T18:51:50Z</dcterms:modified>
</cp:coreProperties>
</file>
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Agent Demo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Tanzu Agentic Platform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37944" y="1106424"/>
            <a:ext cx="2377440" cy="1554480"/>
          </a:xfrm>
          <a:prstGeom prst="roundRect">
            <a:avLst>
              <a:gd name="adj" fmla="val 7059"/>
            </a:avLst>
          </a:prstGeom>
          <a:solidFill>
            <a:srgbClr val="CCE8D8"/>
          </a:solidFill>
          <a:ln w="15240">
            <a:solidFill>
              <a:srgbClr val="5AAA8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764792" y="1033272"/>
            <a:ext cx="2377440" cy="1554480"/>
          </a:xfrm>
          <a:prstGeom prst="roundRect">
            <a:avLst>
              <a:gd name="adj" fmla="val 7059"/>
            </a:avLst>
          </a:prstGeom>
          <a:solidFill>
            <a:srgbClr val="B8E0C8"/>
          </a:solidFill>
          <a:ln w="19050">
            <a:solidFill>
              <a:srgbClr val="7ABCA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691640" y="960120"/>
            <a:ext cx="2377440" cy="1554480"/>
          </a:xfrm>
          <a:prstGeom prst="roundRect">
            <a:avLst>
              <a:gd name="adj" fmla="val 7059"/>
            </a:avLst>
          </a:prstGeom>
          <a:solidFill>
            <a:srgbClr val="E5EFF9"/>
          </a:solidFill>
          <a:ln w="25400">
            <a:solidFill>
              <a:srgbClr val="007A4D"/>
            </a:solidFill>
            <a:prstDash val="solid"/>
          </a:ln>
          <a:effectLst>
            <a:outerShdw sx="100000" sy="100000" kx="0" ky="0" algn="bl" rotWithShape="0" blurRad="152400" dist="50800" dir="2700000">
              <a:srgbClr val="0077B6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691640" y="96012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Harness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828800" y="1435608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C5E8D5"/>
          </a:solidFill>
          <a:ln w="10160">
            <a:solidFill>
              <a:srgbClr val="007A4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143560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factory-agent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971800" y="1435608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C5E8D5"/>
          </a:solidFill>
          <a:ln w="10160">
            <a:solidFill>
              <a:srgbClr val="007A4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971800" y="143560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compliance-agent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783080" y="17830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D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Buildpack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D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system prompt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D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(.agents/skills/)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37160" y="1097280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EAF1FA"/>
          </a:solidFill>
          <a:ln w="19050">
            <a:solidFill>
              <a:srgbClr val="0077B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37160" y="109728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7160" y="146304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D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D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554480" y="1572768"/>
            <a:ext cx="137160" cy="0"/>
          </a:xfrm>
          <a:prstGeom prst="line">
            <a:avLst/>
          </a:prstGeom>
          <a:noFill/>
          <a:ln w="25400">
            <a:solidFill>
              <a:srgbClr val="0077B6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480560" y="960120"/>
            <a:ext cx="1828800" cy="1554480"/>
          </a:xfrm>
          <a:prstGeom prst="roundRect">
            <a:avLst>
              <a:gd name="adj" fmla="val 5882"/>
            </a:avLst>
          </a:prstGeom>
          <a:solidFill>
            <a:srgbClr val="EAF1FA"/>
          </a:solidFill>
          <a:ln w="19050">
            <a:solidFill>
              <a:srgbClr val="007A4D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480560" y="96012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Service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1435608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D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or public models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D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access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0" y="19659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3D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/ claude-3-5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3D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/ tools-capable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069080" y="1737360"/>
            <a:ext cx="411480" cy="0"/>
          </a:xfrm>
          <a:prstGeom prst="line">
            <a:avLst/>
          </a:prstGeom>
          <a:noFill/>
          <a:ln w="25400">
            <a:solidFill>
              <a:srgbClr val="007A4D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629400" y="960120"/>
            <a:ext cx="1463040" cy="1554480"/>
          </a:xfrm>
          <a:prstGeom prst="roundRect">
            <a:avLst>
              <a:gd name="adj" fmla="val 5000"/>
            </a:avLst>
          </a:prstGeom>
          <a:solidFill>
            <a:srgbClr val="EAF1FA"/>
          </a:solidFill>
          <a:ln w="15240">
            <a:solidFill>
              <a:srgbClr val="007A4D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29400" y="9601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02552" y="1307592"/>
            <a:ext cx="1316736" cy="0"/>
          </a:xfrm>
          <a:prstGeom prst="line">
            <a:avLst/>
          </a:prstGeom>
          <a:noFill/>
          <a:ln w="9525">
            <a:solidFill>
              <a:srgbClr val="6AAAC8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702552" y="1362456"/>
            <a:ext cx="1316736" cy="502920"/>
          </a:xfrm>
          <a:prstGeom prst="roundRect">
            <a:avLst>
              <a:gd name="adj" fmla="val 9091"/>
            </a:avLst>
          </a:prstGeom>
          <a:solidFill>
            <a:srgbClr val="D0E5F8"/>
          </a:solidFill>
          <a:ln w="10160">
            <a:solidFill>
              <a:srgbClr val="6AAAC8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720840" y="1362456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car-orders-matching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6702552" y="1929384"/>
            <a:ext cx="1316736" cy="502920"/>
          </a:xfrm>
          <a:prstGeom prst="roundRect">
            <a:avLst>
              <a:gd name="adj" fmla="val 9091"/>
            </a:avLst>
          </a:prstGeom>
          <a:solidFill>
            <a:srgbClr val="D0E5F8"/>
          </a:solidFill>
          <a:ln w="10160">
            <a:solidFill>
              <a:srgbClr val="6AAAC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720840" y="1929384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supplychain-motivator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2880360" y="667512"/>
            <a:ext cx="0" cy="292608"/>
          </a:xfrm>
          <a:prstGeom prst="line">
            <a:avLst/>
          </a:prstGeom>
          <a:noFill/>
          <a:ln w="15240">
            <a:solidFill>
              <a:srgbClr val="6AAAC8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2880360" y="667512"/>
            <a:ext cx="4480560" cy="0"/>
          </a:xfrm>
          <a:prstGeom prst="line">
            <a:avLst/>
          </a:prstGeom>
          <a:noFill/>
          <a:ln w="15240">
            <a:solidFill>
              <a:srgbClr val="6AAAC8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7360920" y="667512"/>
            <a:ext cx="0" cy="292608"/>
          </a:xfrm>
          <a:prstGeom prst="line">
            <a:avLst/>
          </a:prstGeom>
          <a:noFill/>
          <a:ln w="15240">
            <a:solidFill>
              <a:srgbClr val="6AAAC8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2880360" y="2514600"/>
            <a:ext cx="0" cy="320040"/>
          </a:xfrm>
          <a:prstGeom prst="line">
            <a:avLst/>
          </a:prstGeom>
          <a:noFill/>
          <a:ln w="25400">
            <a:solidFill>
              <a:srgbClr val="0077B6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82880" y="2834640"/>
            <a:ext cx="6208776" cy="566928"/>
          </a:xfrm>
          <a:prstGeom prst="roundRect">
            <a:avLst>
              <a:gd name="adj" fmla="val 12903"/>
            </a:avLst>
          </a:prstGeom>
          <a:solidFill>
            <a:srgbClr val="D5E8F8"/>
          </a:solidFill>
          <a:ln w="25400">
            <a:solidFill>
              <a:srgbClr val="0077B6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82880" y="2834640"/>
            <a:ext cx="6208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Gateway  •  OIDC / SSO Auth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880360" y="3401568"/>
            <a:ext cx="0" cy="164592"/>
          </a:xfrm>
          <a:prstGeom prst="line">
            <a:avLst/>
          </a:prstGeom>
          <a:noFill/>
          <a:ln w="25400">
            <a:solidFill>
              <a:srgbClr val="0077B6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914400" y="3566160"/>
            <a:ext cx="4745736" cy="0"/>
          </a:xfrm>
          <a:prstGeom prst="line">
            <a:avLst/>
          </a:prstGeom>
          <a:noFill/>
          <a:ln w="19050">
            <a:solidFill>
              <a:srgbClr val="6AAAC8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914400" y="3566160"/>
            <a:ext cx="0" cy="137160"/>
          </a:xfrm>
          <a:prstGeom prst="line">
            <a:avLst/>
          </a:prstGeom>
          <a:noFill/>
          <a:ln w="19050">
            <a:solidFill>
              <a:srgbClr val="6AAAC8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82880" y="370332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EAF1FA"/>
          </a:solidFill>
          <a:ln w="15240">
            <a:solidFill>
              <a:srgbClr val="C07010"/>
            </a:solidFill>
            <a:prstDash val="solid"/>
          </a:ln>
          <a:effectLst>
            <a:outerShdw sx="100000" sy="100000" kx="0" ky="0" algn="bl" rotWithShape="0" blurRad="76200" dist="25400" dir="2700000">
              <a:srgbClr val="1C2B4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237744" y="3703320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factory-mcp-server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237744" y="4023360"/>
            <a:ext cx="135331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3D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&amp; Supply Chain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237744" y="4334256"/>
            <a:ext cx="1353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07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OIDC Auth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2496312" y="3566160"/>
            <a:ext cx="0" cy="137160"/>
          </a:xfrm>
          <a:prstGeom prst="line">
            <a:avLst/>
          </a:prstGeom>
          <a:noFill/>
          <a:ln w="19050">
            <a:solidFill>
              <a:srgbClr val="6AAAC8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1764792" y="370332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EAF1FA"/>
          </a:solidFill>
          <a:ln w="15240">
            <a:solidFill>
              <a:srgbClr val="C07010"/>
            </a:solidFill>
            <a:prstDash val="solid"/>
          </a:ln>
          <a:effectLst>
            <a:outerShdw sx="100000" sy="100000" kx="0" ky="0" algn="bl" rotWithShape="0" blurRad="76200" dist="25400" dir="2700000">
              <a:srgbClr val="1C2B4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1819656" y="3703320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car-orders-mcp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1819656" y="4023360"/>
            <a:ext cx="135331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3D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Order Management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1819656" y="4334256"/>
            <a:ext cx="1353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07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OIDC Auth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078224" y="3566160"/>
            <a:ext cx="0" cy="137160"/>
          </a:xfrm>
          <a:prstGeom prst="line">
            <a:avLst/>
          </a:prstGeom>
          <a:noFill/>
          <a:ln w="19050">
            <a:solidFill>
              <a:srgbClr val="6AAAC8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3346704" y="3703320"/>
            <a:ext cx="1463040" cy="1115568"/>
          </a:xfrm>
          <a:prstGeom prst="roundRect">
            <a:avLst>
              <a:gd name="adj" fmla="val 7273"/>
            </a:avLst>
          </a:prstGeom>
          <a:solidFill>
            <a:srgbClr val="EAF1FA"/>
          </a:solidFill>
          <a:ln w="15240">
            <a:solidFill>
              <a:srgbClr val="6AAAC8"/>
            </a:solidFill>
            <a:prstDash val="solid"/>
          </a:ln>
          <a:effectLst>
            <a:outerShdw sx="100000" sy="100000" kx="0" ky="0" algn="bl" rotWithShape="0" blurRad="76200" dist="25400" dir="2700000">
              <a:srgbClr val="1C2B4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3401568" y="3703320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doc-analyzer-mcp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3401568" y="4023360"/>
            <a:ext cx="135331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3D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Document Analysis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5660136" y="3566160"/>
            <a:ext cx="0" cy="137160"/>
          </a:xfrm>
          <a:prstGeom prst="line">
            <a:avLst/>
          </a:prstGeom>
          <a:noFill/>
          <a:ln w="19050">
            <a:solidFill>
              <a:srgbClr val="6AAAC8"/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4928616" y="3703320"/>
            <a:ext cx="1463040" cy="1115568"/>
          </a:xfrm>
          <a:prstGeom prst="roundRect">
            <a:avLst>
              <a:gd name="adj" fmla="val 7273"/>
            </a:avLst>
          </a:prstGeom>
          <a:solidFill>
            <a:srgbClr val="EAF1FA"/>
          </a:solidFill>
          <a:ln w="15240">
            <a:solidFill>
              <a:srgbClr val="6AAAC8"/>
            </a:solidFill>
            <a:prstDash val="solid"/>
          </a:ln>
          <a:effectLst>
            <a:outerShdw sx="100000" sy="100000" kx="0" ky="0" algn="bl" rotWithShape="0" blurRad="76200" dist="25400" dir="2700000">
              <a:srgbClr val="1C2B4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4983480" y="3703320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chat-poster-mcp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4983480" y="4023360"/>
            <a:ext cx="135331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3D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Chat Notifications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0" y="4864608"/>
            <a:ext cx="9144000" cy="201168"/>
          </a:xfrm>
          <a:prstGeom prst="rect">
            <a:avLst/>
          </a:prstGeom>
          <a:solidFill>
            <a:srgbClr val="1565A8"/>
          </a:solidFill>
          <a:ln w="12700">
            <a:solidFill>
              <a:srgbClr val="1565A8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0" y="4864608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runtime (buildpack)  •  agentic workflows  •  single push path-to-prod  •  AI gateway &amp; marketplace  •  secure MCP &amp; skills access  •  observability &amp; metrics</a:t>
            </a:r>
            <a:endParaRPr lang="en-US" sz="750" dirty="0"/>
          </a:p>
        </p:txBody>
      </p:sp>
      <p:sp>
        <p:nvSpPr>
          <p:cNvPr id="58" name="SubBox_vector-db"/>
          <p:cNvSpPr>
            <a:spLocks noGrp="1"/>
          </p:cNvSpPr>
          <p:nvPr/>
        </p:nvSpPr>
        <p:spPr>
          <a:xfrm>
            <a:off x="3401568" y="4379976"/>
            <a:ext cx="1353312" cy="192024"/>
          </a:xfrm>
          <a:prstGeom prst="roundRect">
            <a:avLst>
              <a:gd name="adj" fmla="val 9091"/>
            </a:avLst>
          </a:prstGeom>
          <a:solidFill>
            <a:srgbClr val="D0E5F8"/>
          </a:solidFill>
          <a:ln w="10160">
            <a:solidFill>
              <a:srgbClr val="6AAAC8"/>
            </a:solidFill>
            <a:prstDash val="solid"/>
          </a:ln>
        </p:spPr>
        <p:txBody>
          <a:bodyPr anchor="ctr">
            <a:normAutofit/>
          </a:bodyPr>
          <a:lstStyle/>
          <a:p>
            <a:pPr algn="ctr"/>
            <a:r>
              <a:rPr lang="en-US" sz="700" b="1" dirty="0">
                <a:solidFill>
                  <a:srgbClr val="3D5E80"/>
                </a:solidFill>
              </a:rPr>
              <a:t>vector-db</a:t>
            </a:r>
          </a:p>
        </p:txBody>
      </p:sp>
      <p:sp>
        <p:nvSpPr>
          <p:cNvPr id="59" name="SubBox_embeddingmodel"/>
          <p:cNvSpPr>
            <a:spLocks noGrp="1"/>
          </p:cNvSpPr>
          <p:nvPr/>
        </p:nvSpPr>
        <p:spPr>
          <a:xfrm>
            <a:off x="3401568" y="4590288"/>
            <a:ext cx="1353312" cy="192024"/>
          </a:xfrm>
          <a:prstGeom prst="roundRect">
            <a:avLst>
              <a:gd name="adj" fmla="val 9091"/>
            </a:avLst>
          </a:prstGeom>
          <a:solidFill>
            <a:srgbClr val="D0E5F8"/>
          </a:solidFill>
          <a:ln w="10160">
            <a:solidFill>
              <a:srgbClr val="6AAAC8"/>
            </a:solidFill>
            <a:prstDash val="solid"/>
          </a:ln>
        </p:spPr>
        <p:txBody>
          <a:bodyPr anchor="ctr">
            <a:normAutofit/>
          </a:bodyPr>
          <a:lstStyle/>
          <a:p>
            <a:pPr algn="ctr"/>
            <a:r>
              <a:rPr lang="en-US" sz="700" b="1" dirty="0">
                <a:solidFill>
                  <a:srgbClr val="3D5E80"/>
                </a:solidFill>
              </a:rPr>
              <a:t>embedding model</a:t>
            </a:r>
          </a:p>
        </p:txBody>
      </p:sp>
      <p:sp>
        <p:nvSpPr>
          <p:cNvPr id="60" name="SubBox_CredStoreservice"/>
          <p:cNvSpPr>
            <a:spLocks noGrp="1"/>
          </p:cNvSpPr>
          <p:nvPr/>
        </p:nvSpPr>
        <p:spPr>
          <a:xfrm>
            <a:off x="4988376" y="4379976"/>
            <a:ext cx="1353312" cy="192024"/>
          </a:xfrm>
          <a:prstGeom prst="roundRect">
            <a:avLst>
              <a:gd name="adj" fmla="val 9091"/>
            </a:avLst>
          </a:prstGeom>
          <a:solidFill>
            <a:srgbClr val="D0E5F8"/>
          </a:solidFill>
          <a:ln w="10160">
            <a:solidFill>
              <a:srgbClr val="6AAAC8"/>
            </a:solidFill>
            <a:prstDash val="solid"/>
          </a:ln>
        </p:spPr>
        <p:txBody>
          <a:bodyPr anchor="ctr">
            <a:normAutofit/>
          </a:bodyPr>
          <a:lstStyle/>
          <a:p>
            <a:pPr algn="ctr"/>
            <a:r>
              <a:rPr lang="en-US" sz="700" b="1" dirty="0">
                <a:solidFill>
                  <a:srgbClr val="3D5E80"/>
                </a:solidFill>
              </a:rPr>
              <a:t>CredStore service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2026-06-15T18:51:50Z</dcterms:created>
  <dcterms:modified xsi:type="dcterms:W3CDTF">2026-06-15T18:51:50Z</dcterms:modified>
</cp:coreProperties>
</file>